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Sz cx="12192000" cy="6858000" type="wide"/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/Relationships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_rels/slide6.xml.rels><?xml version="1.0" encoding="UTF-8" standalone="yes"?><Relationships xmlns="http://schemas.openxmlformats.org/package/2006/relationships"/>
</file>

<file path=ppt/slides/_rels/slide7.xml.rels><?xml version="1.0" encoding="UTF-8" standalone="yes"?><Relationships xmlns="http://schemas.openxmlformats.org/package/2006/relationships"/>
</file>

<file path=ppt/slides/_rels/slide8.xml.rels><?xml version="1.0" encoding="UTF-8" standalone="yes"?><Relationships xmlns="http://schemas.openxmlformats.org/package/2006/relationships"/>
</file>

<file path=ppt/slides/_rels/slide9.xml.rels><?xml version="1.0" encoding="UTF-8" standalone="yes"?><Relationships xmlns="http://schemas.openxmlformats.org/package/2006/relationships"/>
</file>

<file path=ppt/slides/_rels/slide10.xml.rels><?xml version="1.0" encoding="UTF-8" standalone="yes"?><Relationships xmlns="http://schemas.openxmlformats.org/package/2006/relationships"/>
</file>

<file path=ppt/slides/_rels/slide11.xml.rels><?xml version="1.0" encoding="UTF-8" standalone="yes"?><Relationships xmlns="http://schemas.openxmlformats.org/package/2006/relationships"/>
</file>

<file path=ppt/slides/_rels/slide12.xml.rels><?xml version="1.0" encoding="UTF-8" standalone="yes"?><Relationships xmlns="http://schemas.openxmlformats.org/package/2006/relationships"/>
</file>

<file path=ppt/slides/_rels/slide13.xml.rels><?xml version="1.0" encoding="UTF-8" standalone="yes"?><Relationships xmlns="http://schemas.openxmlformats.org/package/2006/relationships"/>
</file>

<file path=ppt/slides/_rels/slide14.xml.rels><?xml version="1.0" encoding="UTF-8" standalone="yes"?><Relationships xmlns="http://schemas.openxmlformats.org/package/2006/relationships"/>
</file>

<file path=ppt/slides/_rels/slide15.xml.rels><?xml version="1.0" encoding="UTF-8" standalone="yes"?><Relationships xmlns="http://schemas.openxmlformats.org/package/2006/relationships"/>
</file>

<file path=ppt/slides/_rels/slide16.xml.rels><?xml version="1.0" encoding="UTF-8" standalone="yes"?><Relationships xmlns="http://schemas.openxmlformats.org/package/2006/relationships"/>
</file>

<file path=ppt/slides/_rels/slide17.xml.rels><?xml version="1.0" encoding="UTF-8" standalone="yes"?><Relationships xmlns="http://schemas.openxmlformats.org/package/2006/relationships"/>
</file>

<file path=ppt/slides/_rels/slide18.xml.rels><?xml version="1.0" encoding="UTF-8" standalone="yes"?><Relationships xmlns="http://schemas.openxmlformats.org/package/2006/relationships"/>
</file>

<file path=ppt/slides/_rels/slide19.xml.rels><?xml version="1.0" encoding="UTF-8" standalone="yes"?><Relationships xmlns="http://schemas.openxmlformats.org/package/2006/relationships"/>
</file>

<file path=ppt/slides/_rels/slide20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650000" y="520000"/>
            <a:ext cx="10900000" cy="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400" b="1">
                <a:solidFill>
                  <a:srgbClr val="7DD3FC"/>
                </a:solidFill>
              </a:rPr>
              <a:t>AAFE Agent Runtime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720000" y="1180000"/>
            <a:ext cx="10500000" cy="38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000">
                <a:solidFill>
                  <a:srgbClr val="E5E7EB"/>
                </a:solidFill>
              </a:rPr>
              <a:t>让 AI Coding 从功能堆叠走向架构化落地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900000" y="1750000"/>
            <a:ext cx="10200000" cy="4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050">
                <a:solidFill>
                  <a:srgbClr val="F9FAFB"/>
                </a:solidFill>
              </a:rPr>
              <a:t>• Universal Frontend Architecture Runtime</a:t>
            </a:r>
          </a:p>
          <a:p>
            <a:r>
              <a:rPr lang="zh-CN" sz="2050">
                <a:solidFill>
                  <a:srgbClr val="F9FAFB"/>
                </a:solidFill>
              </a:rPr>
              <a:t>• Project Memory + Architecture Locator + DDD + Design Pattern Advisor</a:t>
            </a:r>
          </a:p>
          <a:p>
            <a:r>
              <a:rPr lang="zh-CN" sz="2050">
                <a:solidFill>
                  <a:srgbClr val="F9FAFB"/>
                </a:solidFill>
              </a:rPr>
              <a:t>• 案例：bkbase-mirror 清洗任务画布设计模式优化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0500000" y="6250000"/>
            <a:ext cx="1000000" cy="2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9CA3AF"/>
                </a:solidFill>
              </a:rPr>
              <a:t>01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650000" y="520000"/>
            <a:ext cx="10900000" cy="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400" b="1">
                <a:solidFill>
                  <a:srgbClr val="7DD3FC"/>
                </a:solidFill>
              </a:rPr>
              <a:t>背景：AI 会写代码，但不天然会做架构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900000" y="1450000"/>
            <a:ext cx="10200000" cy="4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050">
                <a:solidFill>
                  <a:srgbClr val="F9FAFB"/>
                </a:solidFill>
              </a:rPr>
              <a:t>• 模型擅长局部逻辑实现：补组件、接接口、修简单 Bug</a:t>
            </a:r>
          </a:p>
          <a:p>
            <a:r>
              <a:rPr lang="zh-CN" sz="2050">
                <a:solidFill>
                  <a:srgbClr val="F9FAFB"/>
                </a:solidFill>
              </a:rPr>
              <a:t>• 复杂功能下容易继续往现有组件、Store、工具函数里加代码</a:t>
            </a:r>
          </a:p>
          <a:p>
            <a:r>
              <a:rPr lang="zh-CN" sz="2050">
                <a:solidFill>
                  <a:srgbClr val="F9FAFB"/>
                </a:solidFill>
              </a:rPr>
              <a:t>• 不会天然主动选择设计模式，也不会维护模块边界</a:t>
            </a:r>
          </a:p>
          <a:p>
            <a:r>
              <a:rPr lang="zh-CN" sz="2050">
                <a:solidFill>
                  <a:srgbClr val="F9FAFB"/>
                </a:solidFill>
              </a:rPr>
              <a:t>• 短期可运行，长期形成组件肥大、状态混乱、修改风险升高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0500000" y="6250000"/>
            <a:ext cx="1000000" cy="2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9CA3AF"/>
                </a:solidFill>
              </a:rPr>
              <a:t>02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650000" y="520000"/>
            <a:ext cx="10900000" cy="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400" b="1">
                <a:solidFill>
                  <a:srgbClr val="7DD3FC"/>
                </a:solidFill>
              </a:rPr>
              <a:t>核心问题：复杂功能不是“多写代码”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900000" y="1450000"/>
            <a:ext cx="10200000" cy="4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050">
                <a:solidFill>
                  <a:srgbClr val="F9FAFB"/>
                </a:solidFill>
              </a:rPr>
              <a:t>• 复杂功能包含多状态、多阶段、多策略、多模块协作</a:t>
            </a:r>
          </a:p>
          <a:p>
            <a:r>
              <a:rPr lang="zh-CN" sz="2050">
                <a:solidFill>
                  <a:srgbClr val="F9FAFB"/>
                </a:solidFill>
              </a:rPr>
              <a:t>• 需要先回答：边界在哪里？变化点在哪里？状态归谁？</a:t>
            </a:r>
          </a:p>
          <a:p>
            <a:r>
              <a:rPr lang="zh-CN" sz="2050">
                <a:solidFill>
                  <a:srgbClr val="F9FAFB"/>
                </a:solidFill>
              </a:rPr>
              <a:t>• 需要设计：Facade / Command / Strategy / Adapter / Registry / Domain Service</a:t>
            </a:r>
          </a:p>
          <a:p>
            <a:r>
              <a:rPr lang="zh-CN" sz="2050">
                <a:solidFill>
                  <a:srgbClr val="F9FAFB"/>
                </a:solidFill>
              </a:rPr>
              <a:t>• 没有架构运行时，模型默认不会把这些问题前置处理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0500000" y="6250000"/>
            <a:ext cx="1000000" cy="2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9CA3AF"/>
                </a:solidFill>
              </a:rPr>
              <a:t>03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650000" y="520000"/>
            <a:ext cx="10900000" cy="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400" b="1">
                <a:solidFill>
                  <a:srgbClr val="7DD3FC"/>
                </a:solidFill>
              </a:rPr>
              <a:t>AAFE 的目标：把架构思考变成执行链路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900000" y="1450000"/>
            <a:ext cx="10200000" cy="4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050">
                <a:solidFill>
                  <a:srgbClr val="F9FAFB"/>
                </a:solidFill>
              </a:rPr>
              <a:t>• Memory Recall：先读取项目记忆和历史决策</a:t>
            </a:r>
          </a:p>
          <a:p>
            <a:r>
              <a:rPr lang="zh-CN" sz="2050">
                <a:solidFill>
                  <a:srgbClr val="F9FAFB"/>
                </a:solidFill>
              </a:rPr>
              <a:t>• Architecture Locator：快速定位路由、组件、模块、设计说明</a:t>
            </a:r>
          </a:p>
          <a:p>
            <a:r>
              <a:rPr lang="zh-CN" sz="2050">
                <a:solidFill>
                  <a:srgbClr val="F9FAFB"/>
                </a:solidFill>
              </a:rPr>
              <a:t>• DDD / Architecture / Pattern：先建模、拆边界、选模式</a:t>
            </a:r>
          </a:p>
          <a:p>
            <a:r>
              <a:rPr lang="zh-CN" sz="2050">
                <a:solidFill>
                  <a:srgbClr val="F9FAFB"/>
                </a:solidFill>
              </a:rPr>
              <a:t>• Gate / Critique / Experience：先校验，再实现，再沉淀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0500000" y="6250000"/>
            <a:ext cx="1000000" cy="2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9CA3AF"/>
                </a:solidFill>
              </a:rPr>
              <a:t>04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650000" y="520000"/>
            <a:ext cx="10900000" cy="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400" b="1">
                <a:solidFill>
                  <a:srgbClr val="7DD3FC"/>
                </a:solidFill>
              </a:rPr>
              <a:t>AAFE Runtime 在项目内生成什么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900000" y="1450000"/>
            <a:ext cx="10200000" cy="4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050">
                <a:solidFill>
                  <a:srgbClr val="F9FAFB"/>
                </a:solidFill>
              </a:rPr>
              <a:t>• .ai-agent/runtime：engine、router、gates、protocol、memory</a:t>
            </a:r>
          </a:p>
          <a:p>
            <a:r>
              <a:rPr lang="zh-CN" sz="2050">
                <a:solidFill>
                  <a:srgbClr val="F9FAFB"/>
                </a:solidFill>
              </a:rPr>
              <a:t>• .ai-agent/skills：架构、DDD、模式、批判、经验沉淀技能</a:t>
            </a:r>
          </a:p>
          <a:p>
            <a:r>
              <a:rPr lang="zh-CN" sz="2050">
                <a:solidFill>
                  <a:srgbClr val="F9FAFB"/>
                </a:solidFill>
              </a:rPr>
              <a:t>• .ai-agent/pipelines：feature、domain-feature、pattern-feature、graph-feature</a:t>
            </a:r>
          </a:p>
          <a:p>
            <a:r>
              <a:rPr lang="zh-CN" sz="2050">
                <a:solidFill>
                  <a:srgbClr val="F9FAFB"/>
                </a:solidFill>
              </a:rPr>
              <a:t>• .ai-agent/memory：项目记忆、架构索引、设计决策、经验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0500000" y="6250000"/>
            <a:ext cx="1000000" cy="2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9CA3AF"/>
                </a:solidFill>
              </a:rPr>
              <a:t>05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650000" y="520000"/>
            <a:ext cx="10900000" cy="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400" b="1">
                <a:solidFill>
                  <a:srgbClr val="7DD3FC"/>
                </a:solidFill>
              </a:rPr>
              <a:t>案例：bkbase-mirror 清洗任务画布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900000" y="1450000"/>
            <a:ext cx="10200000" cy="4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050">
                <a:solidFill>
                  <a:srgbClr val="F9FAFB"/>
                </a:solidFill>
              </a:rPr>
              <a:t>• commit：1f1de9a6a356a9424ae7c92f17e55bc19a7c909d</a:t>
            </a:r>
          </a:p>
          <a:p>
            <a:r>
              <a:rPr lang="zh-CN" sz="2050">
                <a:solidFill>
                  <a:srgbClr val="F9FAFB"/>
                </a:solidFill>
              </a:rPr>
              <a:t>• message：feat: 优化整体设计模式 --story=134005410</a:t>
            </a:r>
          </a:p>
          <a:p>
            <a:r>
              <a:rPr lang="zh-CN" sz="2050">
                <a:solidFill>
                  <a:srgbClr val="F9FAFB"/>
                </a:solidFill>
              </a:rPr>
              <a:t>• 模块：datahub/views/data-detail/clean-task</a:t>
            </a:r>
          </a:p>
          <a:p>
            <a:r>
              <a:rPr lang="zh-CN" sz="2050">
                <a:solidFill>
                  <a:srgbClr val="F9FAFB"/>
                </a:solidFill>
              </a:rPr>
              <a:t>• 场景：画布节点、连线、算子编辑、输出选择、规则编译、调试、只读预览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0500000" y="6250000"/>
            <a:ext cx="1000000" cy="2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9CA3AF"/>
                </a:solidFill>
              </a:rPr>
              <a:t>06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650000" y="520000"/>
            <a:ext cx="10900000" cy="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400" b="1">
                <a:solidFill>
                  <a:srgbClr val="7DD3FC"/>
                </a:solidFill>
              </a:rPr>
              <a:t>案例数据：这是一次架构重排，不是普通改动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900000" y="1450000"/>
            <a:ext cx="10200000" cy="4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050">
                <a:solidFill>
                  <a:srgbClr val="F9FAFB"/>
                </a:solidFill>
              </a:rPr>
              <a:t>• 113 files changed</a:t>
            </a:r>
          </a:p>
          <a:p>
            <a:r>
              <a:rPr lang="zh-CN" sz="2050">
                <a:solidFill>
                  <a:srgbClr val="F9FAFB"/>
                </a:solidFill>
              </a:rPr>
              <a:t>• 8559 insertions / 4952 deletions</a:t>
            </a:r>
          </a:p>
          <a:p>
            <a:r>
              <a:rPr lang="zh-CN" sz="2050">
                <a:solidFill>
                  <a:srgbClr val="F9FAFB"/>
                </a:solidFill>
              </a:rPr>
              <a:t>• useCleanTaskStore.ts：删除约 3738 行，新增约 95 行</a:t>
            </a:r>
          </a:p>
          <a:p>
            <a:r>
              <a:rPr lang="zh-CN" sz="2050">
                <a:solidFill>
                  <a:srgbClr val="F9FAFB"/>
                </a:solidFill>
              </a:rPr>
              <a:t>• 新增 application / domain / rules / infrastructure / store / engine / components 分层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0500000" y="6250000"/>
            <a:ext cx="1000000" cy="2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9CA3AF"/>
                </a:solidFill>
              </a:rPr>
              <a:t>07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650000" y="520000"/>
            <a:ext cx="10900000" cy="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400" b="1">
                <a:solidFill>
                  <a:srgbClr val="7DD3FC"/>
                </a:solidFill>
              </a:rPr>
              <a:t>重构前：AI 容易沿着旧结构继续堆叠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900000" y="1450000"/>
            <a:ext cx="10200000" cy="4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050">
                <a:solidFill>
                  <a:srgbClr val="F9FAFB"/>
                </a:solidFill>
              </a:rPr>
              <a:t>• Index.vue 调 Store，Store 内继续增加状态和 actions</a:t>
            </a:r>
          </a:p>
          <a:p>
            <a:r>
              <a:rPr lang="zh-CN" sz="2050">
                <a:solidFill>
                  <a:srgbClr val="F9FAFB"/>
                </a:solidFill>
              </a:rPr>
              <a:t>• 画布、规则、接口、UI、调试、保存逻辑混在一起</a:t>
            </a:r>
          </a:p>
          <a:p>
            <a:r>
              <a:rPr lang="zh-CN" sz="2050">
                <a:solidFill>
                  <a:srgbClr val="F9FAFB"/>
                </a:solidFill>
              </a:rPr>
              <a:t>• 编辑态和只读态互相污染</a:t>
            </a:r>
          </a:p>
          <a:p>
            <a:r>
              <a:rPr lang="zh-CN" sz="2050">
                <a:solidFill>
                  <a:srgbClr val="F9FAFB"/>
                </a:solidFill>
              </a:rPr>
              <a:t>• 每次新需求都需要理解大文件，误改风险高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0500000" y="6250000"/>
            <a:ext cx="1000000" cy="2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9CA3AF"/>
                </a:solidFill>
              </a:rPr>
              <a:t>08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650000" y="520000"/>
            <a:ext cx="10900000" cy="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400" b="1">
                <a:solidFill>
                  <a:srgbClr val="7DD3FC"/>
                </a:solidFill>
              </a:rPr>
              <a:t>重构后：Facade 保持入口，内部完成分治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900000" y="1450000"/>
            <a:ext cx="10200000" cy="4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050">
                <a:solidFill>
                  <a:srgbClr val="F9FAFB"/>
                </a:solidFill>
              </a:rPr>
              <a:t>• useCleanTaskStore 变成兼容旧调用方的 facade</a:t>
            </a:r>
          </a:p>
          <a:p>
            <a:r>
              <a:rPr lang="zh-CN" sz="2050">
                <a:solidFill>
                  <a:srgbClr val="F9FAFB"/>
                </a:solidFill>
              </a:rPr>
              <a:t>• 内部组合 session / graph / debug / output / ui 子 Store</a:t>
            </a:r>
          </a:p>
          <a:p>
            <a:r>
              <a:rPr lang="zh-CN" sz="2050">
                <a:solidFill>
                  <a:srgbClr val="F9FAFB"/>
                </a:solidFill>
              </a:rPr>
              <a:t>• actions 统一由 createCleanTaskStoreActions 编排</a:t>
            </a:r>
          </a:p>
          <a:p>
            <a:r>
              <a:rPr lang="zh-CN" sz="2050">
                <a:solidFill>
                  <a:srgbClr val="F9FAFB"/>
                </a:solidFill>
              </a:rPr>
              <a:t>• derived 只保留编辑节点、调试状态、逻辑链、只读图等派生结果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0500000" y="6250000"/>
            <a:ext cx="1000000" cy="2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9CA3AF"/>
                </a:solidFill>
              </a:rPr>
              <a:t>09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650000" y="520000"/>
            <a:ext cx="10900000" cy="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400" b="1">
                <a:solidFill>
                  <a:srgbClr val="7DD3FC"/>
                </a:solidFill>
              </a:rPr>
              <a:t>模块边界：把复杂度放到正确位置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900000" y="1450000"/>
            <a:ext cx="10200000" cy="4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050">
                <a:solidFill>
                  <a:srgbClr val="F9FAFB"/>
                </a:solidFill>
              </a:rPr>
              <a:t>• application：用例编排、画布动作、调试动作、持久化动作</a:t>
            </a:r>
          </a:p>
          <a:p>
            <a:r>
              <a:rPr lang="zh-CN" sz="2050">
                <a:solidFill>
                  <a:srgbClr val="F9FAFB"/>
                </a:solidFill>
              </a:rPr>
              <a:t>• domain：图查询、只读图转换、输出选择、校验、时间格式</a:t>
            </a:r>
          </a:p>
          <a:p>
            <a:r>
              <a:rPr lang="zh-CN" sz="2050">
                <a:solidFill>
                  <a:srgbClr val="F9FAFB"/>
                </a:solidFill>
              </a:rPr>
              <a:t>• rules：清洗规则编译、输入路径、输出规则、算子规则</a:t>
            </a:r>
          </a:p>
          <a:p>
            <a:r>
              <a:rPr lang="zh-CN" sz="2050">
                <a:solidFill>
                  <a:srgbClr val="F9FAFB"/>
                </a:solidFill>
              </a:rPr>
              <a:t>• infrastructure：布局服务 Adapter；engine/components：画布运行时与 UI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0500000" y="6250000"/>
            <a:ext cx="1000000" cy="2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9CA3AF"/>
                </a:solidFill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650000" y="520000"/>
            <a:ext cx="10900000" cy="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400" b="1">
                <a:solidFill>
                  <a:srgbClr val="7DD3FC"/>
                </a:solidFill>
              </a:rPr>
              <a:t>设计模式 1：Facade + State Partition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900000" y="1450000"/>
            <a:ext cx="10200000" cy="4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050">
                <a:solidFill>
                  <a:srgbClr val="F9FAFB"/>
                </a:solidFill>
              </a:rPr>
              <a:t>• Facade：保留 useCleanTaskStore 入口，降低迁移和调用方改造成本</a:t>
            </a:r>
          </a:p>
          <a:p>
            <a:r>
              <a:rPr lang="zh-CN" sz="2050">
                <a:solidFill>
                  <a:srgbClr val="F9FAFB"/>
                </a:solidFill>
              </a:rPr>
              <a:t>• State Partition：session / graph / debug / output / ui 状态所有权拆分</a:t>
            </a:r>
          </a:p>
          <a:p>
            <a:r>
              <a:rPr lang="zh-CN" sz="2050">
                <a:solidFill>
                  <a:srgbClr val="F9FAFB"/>
                </a:solidFill>
              </a:rPr>
              <a:t>• reactive ownership 清晰：UI 状态不污染图结构，调试状态不污染输出配置</a:t>
            </a:r>
          </a:p>
          <a:p>
            <a:r>
              <a:rPr lang="zh-CN" sz="2050">
                <a:solidFill>
                  <a:srgbClr val="F9FAFB"/>
                </a:solidFill>
              </a:rPr>
              <a:t>• AI 后续修改能按状态归属快速定位范围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0500000" y="6250000"/>
            <a:ext cx="1000000" cy="2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9CA3AF"/>
                </a:solidFill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650000" y="520000"/>
            <a:ext cx="10900000" cy="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400" b="1">
                <a:solidFill>
                  <a:srgbClr val="7DD3FC"/>
                </a:solidFill>
              </a:rPr>
              <a:t>设计模式 2：Use Case Orchestrator / Command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900000" y="1450000"/>
            <a:ext cx="10200000" cy="4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050">
                <a:solidFill>
                  <a:srgbClr val="F9FAFB"/>
                </a:solidFill>
              </a:rPr>
              <a:t>• graph-actions：节点创建、连线维护、布局和子树查询</a:t>
            </a:r>
          </a:p>
          <a:p>
            <a:r>
              <a:rPr lang="zh-CN" sz="2050">
                <a:solidFill>
                  <a:srgbClr val="F9FAFB"/>
                </a:solidFill>
              </a:rPr>
              <a:t>• debug-actions / debug-result-actions：调试流程和结果处理</a:t>
            </a:r>
          </a:p>
          <a:p>
            <a:r>
              <a:rPr lang="zh-CN" sz="2050">
                <a:solidFill>
                  <a:srgbClr val="F9FAFB"/>
                </a:solidFill>
              </a:rPr>
              <a:t>• persistence-actions：保存、恢复、部署流程</a:t>
            </a:r>
          </a:p>
          <a:p>
            <a:r>
              <a:rPr lang="zh-CN" sz="2050">
                <a:solidFill>
                  <a:srgbClr val="F9FAFB"/>
                </a:solidFill>
              </a:rPr>
              <a:t>• Action 负责编排，不承载所有规则细节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0500000" y="6250000"/>
            <a:ext cx="1000000" cy="2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9CA3AF"/>
                </a:solidFill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650000" y="520000"/>
            <a:ext cx="10900000" cy="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400" b="1">
                <a:solidFill>
                  <a:srgbClr val="7DD3FC"/>
                </a:solidFill>
              </a:rPr>
              <a:t>设计模式 3：Domain Service / Projection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900000" y="1450000"/>
            <a:ext cx="10200000" cy="4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050">
                <a:solidFill>
                  <a:srgbClr val="F9FAFB"/>
                </a:solidFill>
              </a:rPr>
              <a:t>• 只读预览不是禁用按钮，而是构建只读图投影</a:t>
            </a:r>
          </a:p>
          <a:p>
            <a:r>
              <a:rPr lang="zh-CN" sz="2050">
                <a:solidFill>
                  <a:srgbClr val="F9FAFB"/>
                </a:solidFill>
              </a:rPr>
              <a:t>• domain/graph/readonly-graph.ts 承载只读图转换规则</a:t>
            </a:r>
          </a:p>
          <a:p>
            <a:r>
              <a:rPr lang="zh-CN" sz="2050">
                <a:solidFill>
                  <a:srgbClr val="F9FAFB"/>
                </a:solidFill>
              </a:rPr>
              <a:t>• getReadonlyVisibleNodes / buildReadonlyVirtualEdges / buildReadonlyGraph</a:t>
            </a:r>
          </a:p>
          <a:p>
            <a:r>
              <a:rPr lang="zh-CN" sz="2050">
                <a:solidFill>
                  <a:srgbClr val="F9FAFB"/>
                </a:solidFill>
              </a:rPr>
              <a:t>• UI 只消费结果，画布引擎不关心规则细节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0500000" y="6250000"/>
            <a:ext cx="1000000" cy="2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9CA3AF"/>
                </a:solidFill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650000" y="520000"/>
            <a:ext cx="10900000" cy="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400" b="1">
                <a:solidFill>
                  <a:srgbClr val="7DD3FC"/>
                </a:solidFill>
              </a:rPr>
              <a:t>设计模式 4：Adapter / Strategy / Registry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900000" y="1450000"/>
            <a:ext cx="10200000" cy="4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050">
                <a:solidFill>
                  <a:srgbClr val="F9FAFB"/>
                </a:solidFill>
              </a:rPr>
              <a:t>• Adapter：clean-task-layout-service 适配布局能力</a:t>
            </a:r>
          </a:p>
          <a:p>
            <a:r>
              <a:rPr lang="zh-CN" sz="2050">
                <a:solidFill>
                  <a:srgbClr val="F9FAFB"/>
                </a:solidFill>
              </a:rPr>
              <a:t>• Strategy：错误处理、时间格式、布局计算可策略化</a:t>
            </a:r>
          </a:p>
          <a:p>
            <a:r>
              <a:rPr lang="zh-CN" sz="2050">
                <a:solidFill>
                  <a:srgbClr val="F9FAFB"/>
                </a:solidFill>
              </a:rPr>
              <a:t>• Registry：节点类型、渲染器、图标、布局模块统一注册</a:t>
            </a:r>
          </a:p>
          <a:p>
            <a:r>
              <a:rPr lang="zh-CN" sz="2050">
                <a:solidFill>
                  <a:srgbClr val="F9FAFB"/>
                </a:solidFill>
              </a:rPr>
              <a:t>• 变化点被隔离，新算子 / 新布局 / 新渲染方式不再牵动全局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0500000" y="6250000"/>
            <a:ext cx="1000000" cy="2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9CA3AF"/>
                </a:solidFill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650000" y="520000"/>
            <a:ext cx="10900000" cy="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400" b="1">
                <a:solidFill>
                  <a:srgbClr val="7DD3FC"/>
                </a:solidFill>
              </a:rPr>
              <a:t>AAFE 如何指导类似案例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900000" y="1450000"/>
            <a:ext cx="10200000" cy="4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050">
                <a:solidFill>
                  <a:srgbClr val="F9FAFB"/>
                </a:solidFill>
              </a:rPr>
              <a:t>• 先用 analyze 生成项目架构索引，避免盲扫源码</a:t>
            </a:r>
          </a:p>
          <a:p>
            <a:r>
              <a:rPr lang="zh-CN" sz="2050">
                <a:solidFill>
                  <a:srgbClr val="F9FAFB"/>
                </a:solidFill>
              </a:rPr>
              <a:t>• 识别 graph-feature / workflow / complex 场景，选择对应 Pipeline</a:t>
            </a:r>
          </a:p>
          <a:p>
            <a:r>
              <a:rPr lang="zh-CN" sz="2050">
                <a:solidFill>
                  <a:srgbClr val="F9FAFB"/>
                </a:solidFill>
              </a:rPr>
              <a:t>• 按 domain / application / infrastructure / presentation / graph-runtime 拆边界</a:t>
            </a:r>
          </a:p>
          <a:p>
            <a:r>
              <a:rPr lang="zh-CN" sz="2050">
                <a:solidFill>
                  <a:srgbClr val="F9FAFB"/>
                </a:solidFill>
              </a:rPr>
              <a:t>• 根据变化点选择 Facade / Command / Strategy / Adapter / Registry 等模式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0500000" y="6250000"/>
            <a:ext cx="1000000" cy="2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9CA3AF"/>
                </a:solidFill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650000" y="520000"/>
            <a:ext cx="10900000" cy="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400" b="1">
                <a:solidFill>
                  <a:srgbClr val="7DD3FC"/>
                </a:solidFill>
              </a:rPr>
              <a:t>Gate：阻止模型过早进入实现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900000" y="1450000"/>
            <a:ext cx="10200000" cy="4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050">
                <a:solidFill>
                  <a:srgbClr val="F9FAFB"/>
                </a:solidFill>
              </a:rPr>
              <a:t>• architecture_gate：必须有边界、拆分、模式选择</a:t>
            </a:r>
          </a:p>
          <a:p>
            <a:r>
              <a:rPr lang="zh-CN" sz="2050">
                <a:solidFill>
                  <a:srgbClr val="F9FAFB"/>
                </a:solidFill>
              </a:rPr>
              <a:t>• pattern_gate：必须完成模式访谈、选择和模块映射</a:t>
            </a:r>
          </a:p>
          <a:p>
            <a:r>
              <a:rPr lang="zh-CN" sz="2050">
                <a:solidFill>
                  <a:srgbClr val="F9FAFB"/>
                </a:solidFill>
              </a:rPr>
              <a:t>• implementation_gate：必须识别风险和扩展点</a:t>
            </a:r>
          </a:p>
          <a:p>
            <a:r>
              <a:rPr lang="zh-CN" sz="2050">
                <a:solidFill>
                  <a:srgbClr val="F9FAFB"/>
                </a:solidFill>
              </a:rPr>
              <a:t>• merge_gate：必须通过 critique，避免未审查方案沉淀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0500000" y="6250000"/>
            <a:ext cx="1000000" cy="2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9CA3AF"/>
                </a:solidFill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650000" y="520000"/>
            <a:ext cx="10900000" cy="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400" b="1">
                <a:solidFill>
                  <a:srgbClr val="7DD3FC"/>
                </a:solidFill>
              </a:rPr>
              <a:t>自我进化：把成功路径沉淀下来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900000" y="1450000"/>
            <a:ext cx="10200000" cy="4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050">
                <a:solidFill>
                  <a:srgbClr val="F9FAFB"/>
                </a:solidFill>
              </a:rPr>
              <a:t>• 同一问题重复处理三次仍失败时，最终成功后触发经验沉淀</a:t>
            </a:r>
          </a:p>
          <a:p>
            <a:r>
              <a:rPr lang="zh-CN" sz="2050">
                <a:solidFill>
                  <a:srgbClr val="F9FAFB"/>
                </a:solidFill>
              </a:rPr>
              <a:t>• 只记录解决思路、决策路径、适用边界和避免项</a:t>
            </a:r>
          </a:p>
          <a:p>
            <a:r>
              <a:rPr lang="zh-CN" sz="2050">
                <a:solidFill>
                  <a:srgbClr val="F9FAFB"/>
                </a:solidFill>
              </a:rPr>
              <a:t>• 不记录完整试错过程，避免 Memory 变流水账</a:t>
            </a:r>
          </a:p>
          <a:p>
            <a:r>
              <a:rPr lang="zh-CN" sz="2050">
                <a:solidFill>
                  <a:srgbClr val="F9FAFB"/>
                </a:solidFill>
              </a:rPr>
              <a:t>• 类似画布 / 工作流 / 节点编辑器问题可复用架构路径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0500000" y="6250000"/>
            <a:ext cx="1000000" cy="2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9CA3AF"/>
                </a:solidFill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650000" y="520000"/>
            <a:ext cx="10900000" cy="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400" b="1">
                <a:solidFill>
                  <a:srgbClr val="7DD3FC"/>
                </a:solidFill>
              </a:rPr>
              <a:t>分发方式：GitHub SKILLS vs npm CLI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900000" y="1450000"/>
            <a:ext cx="10200000" cy="4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050">
                <a:solidFill>
                  <a:srgbClr val="F9FAFB"/>
                </a:solidFill>
              </a:rPr>
              <a:t>• GitHub SKILLS：给 Agent / AI 工具直接下载协作能力</a:t>
            </a:r>
          </a:p>
          <a:p>
            <a:r>
              <a:rPr lang="zh-CN" sz="2050">
                <a:solidFill>
                  <a:srgbClr val="F9FAFB"/>
                </a:solidFill>
              </a:rPr>
              <a:t>• npm CLI：给业务项目初始化和更新 .ai-agent Runtime</a:t>
            </a:r>
          </a:p>
          <a:p>
            <a:r>
              <a:rPr lang="zh-CN" sz="2050">
                <a:solidFill>
                  <a:srgbClr val="F9FAFB"/>
                </a:solidFill>
              </a:rPr>
              <a:t>• aafe skills 只负责 Agent SKILLS 下载</a:t>
            </a:r>
          </a:p>
          <a:p>
            <a:r>
              <a:rPr lang="zh-CN" sz="2050">
                <a:solidFill>
                  <a:srgbClr val="F9FAFB"/>
                </a:solidFill>
              </a:rPr>
              <a:t>• aafe init/update/analyze/doctor 只负责项目内 Runtime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0500000" y="6250000"/>
            <a:ext cx="1000000" cy="2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9CA3AF"/>
                </a:solidFill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650000" y="520000"/>
            <a:ext cx="10900000" cy="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400" b="1">
                <a:solidFill>
                  <a:srgbClr val="7DD3FC"/>
                </a:solidFill>
              </a:rPr>
              <a:t>价值总结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900000" y="1450000"/>
            <a:ext cx="10200000" cy="4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050">
                <a:solidFill>
                  <a:srgbClr val="F9FAFB"/>
                </a:solidFill>
              </a:rPr>
              <a:t>• 从代码生成升级为架构执行</a:t>
            </a:r>
          </a:p>
          <a:p>
            <a:r>
              <a:rPr lang="zh-CN" sz="2050">
                <a:solidFill>
                  <a:srgbClr val="F9FAFB"/>
                </a:solidFill>
              </a:rPr>
              <a:t>• 从功能堆叠升级为模块边界</a:t>
            </a:r>
          </a:p>
          <a:p>
            <a:r>
              <a:rPr lang="zh-CN" sz="2050">
                <a:solidFill>
                  <a:srgbClr val="F9FAFB"/>
                </a:solidFill>
              </a:rPr>
              <a:t>• 从随机实现升级为设计模式选择</a:t>
            </a:r>
          </a:p>
          <a:p>
            <a:r>
              <a:rPr lang="zh-CN" sz="2050">
                <a:solidFill>
                  <a:srgbClr val="F9FAFB"/>
                </a:solidFill>
              </a:rPr>
              <a:t>• 从一次性问答升级为项目记忆</a:t>
            </a:r>
          </a:p>
          <a:p>
            <a:r>
              <a:rPr lang="zh-CN" sz="2050">
                <a:solidFill>
                  <a:srgbClr val="F9FAFB"/>
                </a:solidFill>
              </a:rPr>
              <a:t>• 从失败重试升级为经验沉淀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0500000" y="6250000"/>
            <a:ext cx="1000000" cy="2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9CA3AF"/>
                </a:solidFill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650000" y="520000"/>
            <a:ext cx="10900000" cy="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400" b="1">
                <a:solidFill>
                  <a:srgbClr val="7DD3FC"/>
                </a:solidFill>
              </a:rPr>
              <a:t>一句话总结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900000" y="1450000"/>
            <a:ext cx="10200000" cy="4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050">
                <a:solidFill>
                  <a:srgbClr val="F9FAFB"/>
                </a:solidFill>
              </a:rPr>
              <a:t>• AAFE 不是让 AI 更快地堆代码</a:t>
            </a:r>
          </a:p>
          <a:p>
            <a:r>
              <a:rPr lang="zh-CN" sz="2050">
                <a:solidFill>
                  <a:srgbClr val="F9FAFB"/>
                </a:solidFill>
              </a:rPr>
              <a:t>• 而是让 AI 在复杂前端项目中：先理解项目、再拆分边界、再选择模式、最后落地实现</a:t>
            </a:r>
          </a:p>
          <a:p>
            <a:r>
              <a:rPr lang="zh-CN" sz="2050">
                <a:solidFill>
                  <a:srgbClr val="F9FAFB"/>
                </a:solidFill>
              </a:rPr>
              <a:t>• 目标：持续交付可维护、可演进的复杂功能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0500000" y="6250000"/>
            <a:ext cx="1000000" cy="2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9CA3AF"/>
                </a:solidFill>
              </a:rPr>
              <a:t>20 / 20</a:t>
            </a:r>
          </a:p>
        </p:txBody>
      </p:sp>
    </p:spTree>
  </p:cSld>
  <p:clrMapOvr>
    <a:masterClrMapping/>
  </p:clrMapOvr>
</p:sld>
</file>